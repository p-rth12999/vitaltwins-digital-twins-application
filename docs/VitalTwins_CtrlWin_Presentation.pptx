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" charset="1" panose="00000500000000000000"/>
      <p:regular r:id="rId16"/>
    </p:embeddedFont>
    <p:embeddedFont>
      <p:font typeface="HK Grotesk Bold" charset="1" panose="00000800000000000000"/>
      <p:regular r:id="rId17"/>
    </p:embeddedFont>
    <p:embeddedFont>
      <p:font typeface="Noto Sans" charset="1" panose="020B0502040504020204"/>
      <p:regular r:id="rId18"/>
    </p:embeddedFont>
    <p:embeddedFont>
      <p:font typeface="HK Grotesk Semi-Bold" charset="1" panose="00000700000000000000"/>
      <p:regular r:id="rId19"/>
    </p:embeddedFont>
    <p:embeddedFont>
      <p:font typeface="Noto Sans Bold" charset="1" panose="020B0802040504020204"/>
      <p:regular r:id="rId20"/>
    </p:embeddedFont>
    <p:embeddedFont>
      <p:font typeface="HK Grotesk Medium" charset="1" panose="000006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png" Type="http://schemas.openxmlformats.org/officeDocument/2006/relationships/image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13" Target="../media/image81.png" Type="http://schemas.openxmlformats.org/officeDocument/2006/relationships/image"/><Relationship Id="rId14" Target="../media/image82.png" Type="http://schemas.openxmlformats.org/officeDocument/2006/relationships/image"/><Relationship Id="rId15" Target="../media/image83.png" Type="http://schemas.openxmlformats.org/officeDocument/2006/relationships/image"/><Relationship Id="rId16" Target="../media/image84.png" Type="http://schemas.openxmlformats.org/officeDocument/2006/relationships/image"/><Relationship Id="rId17" Target="../media/image85.png" Type="http://schemas.openxmlformats.org/officeDocument/2006/relationships/image"/><Relationship Id="rId18" Target="../media/image86.png" Type="http://schemas.openxmlformats.org/officeDocument/2006/relationships/image"/><Relationship Id="rId19" Target="../media/image87.png" Type="http://schemas.openxmlformats.org/officeDocument/2006/relationships/image"/><Relationship Id="rId2" Target="../media/image70.png" Type="http://schemas.openxmlformats.org/officeDocument/2006/relationships/image"/><Relationship Id="rId20" Target="../media/image88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14" Target="../media/image101.png" Type="http://schemas.openxmlformats.org/officeDocument/2006/relationships/image"/><Relationship Id="rId15" Target="../media/image102.png" Type="http://schemas.openxmlformats.org/officeDocument/2006/relationships/image"/><Relationship Id="rId16" Target="../media/image103.png" Type="http://schemas.openxmlformats.org/officeDocument/2006/relationships/image"/><Relationship Id="rId17" Target="../media/image104.png" Type="http://schemas.openxmlformats.org/officeDocument/2006/relationships/image"/><Relationship Id="rId2" Target="../media/image8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95.pn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12" Target="../media/image115.png" Type="http://schemas.openxmlformats.org/officeDocument/2006/relationships/image"/><Relationship Id="rId13" Target="../media/image116.png" Type="http://schemas.openxmlformats.org/officeDocument/2006/relationships/image"/><Relationship Id="rId14" Target="../media/image117.png" Type="http://schemas.openxmlformats.org/officeDocument/2006/relationships/image"/><Relationship Id="rId15" Target="../media/image118.png" Type="http://schemas.openxmlformats.org/officeDocument/2006/relationships/image"/><Relationship Id="rId2" Target="../media/image105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426348"/>
            <a:ext cx="6540804" cy="8789318"/>
          </a:xfrm>
          <a:custGeom>
            <a:avLst/>
            <a:gdLst/>
            <a:ahLst/>
            <a:cxnLst/>
            <a:rect r="r" b="b" t="t" l="l"/>
            <a:pathLst>
              <a:path h="8789318" w="6540804">
                <a:moveTo>
                  <a:pt x="0" y="0"/>
                </a:moveTo>
                <a:lnTo>
                  <a:pt x="6540804" y="0"/>
                </a:lnTo>
                <a:lnTo>
                  <a:pt x="6540804" y="8789317"/>
                </a:lnTo>
                <a:lnTo>
                  <a:pt x="0" y="878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9330" y="1924030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89330" y="3214004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09314" y="4256953"/>
            <a:ext cx="646455" cy="43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3"/>
              </a:lnSpc>
            </a:pPr>
            <a:r>
              <a:rPr lang="en-US" sz="2707">
                <a:solidFill>
                  <a:srgbClr val="05D6F0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SpO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83110" y="428533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70574" y="4919394"/>
            <a:ext cx="2625072" cy="1945894"/>
          </a:xfrm>
          <a:custGeom>
            <a:avLst/>
            <a:gdLst/>
            <a:ahLst/>
            <a:cxnLst/>
            <a:rect r="r" b="b" t="t" l="l"/>
            <a:pathLst>
              <a:path h="1945894" w="2625072">
                <a:moveTo>
                  <a:pt x="0" y="0"/>
                </a:moveTo>
                <a:lnTo>
                  <a:pt x="2625072" y="0"/>
                </a:lnTo>
                <a:lnTo>
                  <a:pt x="262507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6802" y="1761098"/>
            <a:ext cx="8292412" cy="185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1"/>
              </a:lnSpc>
            </a:pPr>
            <a:r>
              <a:rPr lang="en-US" sz="14011" spc="-28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Vital</a:t>
            </a:r>
            <a:r>
              <a:rPr lang="en-US" sz="14011" spc="-280" b="true">
                <a:solidFill>
                  <a:srgbClr val="05D6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Twins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3640352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1885" y="4321952"/>
            <a:ext cx="6784120" cy="116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458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Mechanistic PK/PD &amp; Multimodal</a:t>
            </a:r>
          </a:p>
          <a:p>
            <a:pPr algn="l">
              <a:lnSpc>
                <a:spcPts val="4667"/>
              </a:lnSpc>
            </a:pPr>
            <a:r>
              <a:rPr lang="en-US" sz="3458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Predictive Clinical Twins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4411" y="5969435"/>
            <a:ext cx="6531530" cy="100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97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Closing the </a:t>
            </a:r>
            <a:r>
              <a:rPr lang="en-US" sz="2970">
                <a:solidFill>
                  <a:srgbClr val="05D6F0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trust gap</a:t>
            </a:r>
            <a:r>
              <a:rPr lang="en-US" sz="297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between</a:t>
            </a:r>
          </a:p>
          <a:p>
            <a:pPr algn="l">
              <a:lnSpc>
                <a:spcPts val="4009"/>
              </a:lnSpc>
            </a:pPr>
            <a:r>
              <a:rPr lang="en-US" sz="2970">
                <a:solidFill>
                  <a:srgbClr val="05D6F0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unseen signals</a:t>
            </a:r>
            <a:r>
              <a:rPr lang="en-US" sz="2970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and clinical decisions.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5330" y="7454570"/>
            <a:ext cx="2445610" cy="76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2351" b="true">
                <a:solidFill>
                  <a:srgbClr val="05D6F0">
                    <a:alpha val="89804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</a:t>
            </a:r>
            <a:r>
              <a:rPr lang="en-US" sz="2351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 CTRL win</a:t>
            </a:r>
          </a:p>
          <a:p>
            <a:pPr algn="l">
              <a:lnSpc>
                <a:spcPts val="3173"/>
              </a:lnSpc>
            </a:pPr>
            <a:r>
              <a:rPr lang="en-US" sz="2351">
                <a:solidFill>
                  <a:srgbClr val="FFFFFF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Parth Kulkarni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9236" y="8709014"/>
            <a:ext cx="5049066" cy="76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351" b="true">
                <a:solidFill>
                  <a:srgbClr val="FFFFFF">
                    <a:alpha val="89804"/>
                  </a:srgbClr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Happiest Health Digital Twin Challenge 2026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654842" y="3421712"/>
            <a:ext cx="12633158" cy="6865288"/>
          </a:xfrm>
          <a:custGeom>
            <a:avLst/>
            <a:gdLst/>
            <a:ahLst/>
            <a:cxnLst/>
            <a:rect r="r" b="b" t="t" l="l"/>
            <a:pathLst>
              <a:path h="6865288" w="12633158">
                <a:moveTo>
                  <a:pt x="0" y="0"/>
                </a:moveTo>
                <a:lnTo>
                  <a:pt x="12633158" y="0"/>
                </a:lnTo>
                <a:lnTo>
                  <a:pt x="12633158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1398" y="1189833"/>
            <a:ext cx="6548497" cy="24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3"/>
              </a:lnSpc>
            </a:pPr>
            <a:r>
              <a:rPr lang="en-US" sz="10054" spc="-201" b="true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Clinical </a:t>
            </a:r>
            <a:r>
              <a:rPr lang="en-US" sz="10054" spc="-201" b="true">
                <a:solidFill>
                  <a:srgbClr val="0CD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848060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5646" y="4416735"/>
            <a:ext cx="6123680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EHR records and wearable signals live in </a:t>
            </a:r>
            <a:r>
              <a:rPr lang="en-US" sz="2970" spc="-29" b="true">
                <a:solidFill>
                  <a:srgbClr val="36C9D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separate worlds</a:t>
            </a: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847" y="5742089"/>
            <a:ext cx="5803591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There may be an </a:t>
            </a:r>
            <a:r>
              <a:rPr lang="en-US" sz="2970" spc="-29" b="true">
                <a:solidFill>
                  <a:srgbClr val="36C9D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early warning window</a:t>
            </a: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 before symptoms.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9353" y="7052382"/>
            <a:ext cx="5752990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Clinicians need </a:t>
            </a:r>
            <a:r>
              <a:rPr lang="en-US" sz="2970" spc="-29" b="true">
                <a:solidFill>
                  <a:srgbClr val="36C9D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physiological explainability</a:t>
            </a:r>
            <a:r>
              <a:rPr lang="en-US" sz="2970" spc="-29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, not black boxes.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2278" y="8362887"/>
            <a:ext cx="5460466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Today, </a:t>
            </a:r>
            <a:r>
              <a:rPr lang="en-US" sz="2896" spc="-28" b="true">
                <a:solidFill>
                  <a:srgbClr val="36C9D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trust</a:t>
            </a:r>
            <a:r>
              <a:rPr lang="en-US" sz="2896" spc="-28">
                <a:solidFill>
                  <a:srgbClr val="F8F8F8"/>
                </a:solidFill>
                <a:latin typeface="Noto Sans"/>
                <a:ea typeface="Noto Sans"/>
                <a:cs typeface="Noto Sans"/>
                <a:sym typeface="Noto Sans"/>
              </a:rPr>
              <a:t> is the missing link.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1705390"/>
            <a:ext cx="4364182" cy="7947555"/>
          </a:xfrm>
          <a:custGeom>
            <a:avLst/>
            <a:gdLst/>
            <a:ahLst/>
            <a:cxnLst/>
            <a:rect r="r" b="b" t="t" l="l"/>
            <a:pathLst>
              <a:path h="7947555" w="4364182">
                <a:moveTo>
                  <a:pt x="0" y="0"/>
                </a:moveTo>
                <a:lnTo>
                  <a:pt x="4364182" y="0"/>
                </a:lnTo>
                <a:lnTo>
                  <a:pt x="4364182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07820" y="1147357"/>
            <a:ext cx="1477422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311" spc="-22">
                <a:solidFill>
                  <a:srgbClr val="F8F8F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EHR DATA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23818" y="5356674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61330" y="1924030"/>
            <a:ext cx="3500096" cy="4514911"/>
          </a:xfrm>
          <a:custGeom>
            <a:avLst/>
            <a:gdLst/>
            <a:ahLst/>
            <a:cxnLst/>
            <a:rect r="r" b="b" t="t" l="l"/>
            <a:pathLst>
              <a:path h="4514911" w="3500096">
                <a:moveTo>
                  <a:pt x="0" y="0"/>
                </a:moveTo>
                <a:lnTo>
                  <a:pt x="3500096" y="0"/>
                </a:lnTo>
                <a:lnTo>
                  <a:pt x="3500096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35890" y="1147357"/>
            <a:ext cx="248831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311" spc="-22">
                <a:solidFill>
                  <a:srgbClr val="F8F8F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WEARABLE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06432" y="3195630"/>
            <a:ext cx="1260777" cy="139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30">
                <a:solidFill>
                  <a:srgbClr val="86DC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TRUST GAP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965952" y="4919394"/>
            <a:ext cx="2406316" cy="229572"/>
          </a:xfrm>
          <a:custGeom>
            <a:avLst/>
            <a:gdLst/>
            <a:ahLst/>
            <a:cxnLst/>
            <a:rect r="r" b="b" t="t" l="l"/>
            <a:pathLst>
              <a:path h="229572" w="2406316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22210" y="8391621"/>
            <a:ext cx="1847973" cy="89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3032" spc="-29">
                <a:solidFill>
                  <a:srgbClr val="0CD6E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UNSEEN SIGNALS?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59732" y="5138034"/>
            <a:ext cx="229694" cy="3443576"/>
          </a:xfrm>
          <a:custGeom>
            <a:avLst/>
            <a:gdLst/>
            <a:ahLst/>
            <a:cxnLst/>
            <a:rect r="r" b="b" t="t" l="l"/>
            <a:pathLst>
              <a:path h="3443576" w="229694">
                <a:moveTo>
                  <a:pt x="0" y="0"/>
                </a:moveTo>
                <a:lnTo>
                  <a:pt x="229694" y="0"/>
                </a:lnTo>
                <a:lnTo>
                  <a:pt x="22969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329" y="837454"/>
            <a:ext cx="6881952" cy="183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0"/>
              </a:lnSpc>
            </a:pPr>
            <a:r>
              <a:rPr lang="en-US" sz="6557" spc="-64" b="true">
                <a:solidFill>
                  <a:srgbClr val="F8F8F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From Risk Scores </a:t>
            </a:r>
            <a:r>
              <a:rPr lang="en-US" sz="6557" spc="-64" b="true">
                <a:solidFill>
                  <a:srgbClr val="0ED1E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 a Digital Twin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995365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3473" y="3648844"/>
            <a:ext cx="4946462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A living model of the patient,</a:t>
            </a:r>
          </a:p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updated </a:t>
            </a:r>
            <a:r>
              <a:rPr lang="en-US" sz="2896" spc="28" b="true">
                <a:solidFill>
                  <a:srgbClr val="0ED1E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 sync</a:t>
            </a: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 with real life.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1100" y="4989259"/>
            <a:ext cx="4183715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Reflects both baseline</a:t>
            </a:r>
          </a:p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and </a:t>
            </a:r>
            <a:r>
              <a:rPr lang="en-US" sz="2896" spc="28" b="true">
                <a:solidFill>
                  <a:srgbClr val="0ED1E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day-by-day</a:t>
            </a: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 changes.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2350" y="6359795"/>
            <a:ext cx="6058737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Explore what-ifs in a safe sandbox—insight only, </a:t>
            </a:r>
            <a:r>
              <a:rPr lang="en-US" sz="2896" spc="28" b="true">
                <a:solidFill>
                  <a:srgbClr val="0ED1E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not prescriptions</a:t>
            </a: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5935" y="7730332"/>
            <a:ext cx="5700289" cy="92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Patient-centred guidance,</a:t>
            </a:r>
          </a:p>
          <a:p>
            <a:pPr algn="l">
              <a:lnSpc>
                <a:spcPts val="3764"/>
              </a:lnSpc>
            </a:pP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built for </a:t>
            </a:r>
            <a:r>
              <a:rPr lang="en-US" sz="2896" spc="28" b="true">
                <a:solidFill>
                  <a:srgbClr val="0ED1E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calm, informed</a:t>
            </a:r>
            <a:r>
              <a:rPr lang="en-US" sz="2896" spc="28">
                <a:solidFill>
                  <a:srgbClr val="F8F8F8"/>
                </a:solidFill>
                <a:latin typeface="HK Grotesk"/>
                <a:ea typeface="HK Grotesk"/>
                <a:cs typeface="HK Grotesk"/>
                <a:sym typeface="HK Grotesk"/>
              </a:rPr>
              <a:t> decisions.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11437" y="2016847"/>
            <a:ext cx="1259897" cy="63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PHYSICAL</a:t>
            </a:r>
          </a:p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PATIENT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1464" y="2776725"/>
            <a:ext cx="2406316" cy="4514911"/>
          </a:xfrm>
          <a:custGeom>
            <a:avLst/>
            <a:gdLst/>
            <a:ahLst/>
            <a:cxnLst/>
            <a:rect r="r" b="b" t="t" l="l"/>
            <a:pathLst>
              <a:path h="4514911" w="2406316">
                <a:moveTo>
                  <a:pt x="0" y="0"/>
                </a:moveTo>
                <a:lnTo>
                  <a:pt x="2406316" y="0"/>
                </a:lnTo>
                <a:lnTo>
                  <a:pt x="2406316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67070" y="2016847"/>
            <a:ext cx="2229981" cy="63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SYNCHRONISED</a:t>
            </a:r>
          </a:p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VIRTUAL REPLICA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26842" y="2776725"/>
            <a:ext cx="2406316" cy="4514911"/>
          </a:xfrm>
          <a:custGeom>
            <a:avLst/>
            <a:gdLst/>
            <a:ahLst/>
            <a:cxnLst/>
            <a:rect r="r" b="b" t="t" l="l"/>
            <a:pathLst>
              <a:path h="4514911" w="2406316">
                <a:moveTo>
                  <a:pt x="0" y="0"/>
                </a:moveTo>
                <a:lnTo>
                  <a:pt x="2406316" y="0"/>
                </a:lnTo>
                <a:lnTo>
                  <a:pt x="2406316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012007" y="2016847"/>
            <a:ext cx="2008061" cy="63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PK/PD</a:t>
            </a:r>
          </a:p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SHADOW TWIN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840976" y="2776725"/>
            <a:ext cx="2406316" cy="4514911"/>
          </a:xfrm>
          <a:custGeom>
            <a:avLst/>
            <a:gdLst/>
            <a:ahLst/>
            <a:cxnLst/>
            <a:rect r="r" b="b" t="t" l="l"/>
            <a:pathLst>
              <a:path h="4514911" w="2406316">
                <a:moveTo>
                  <a:pt x="0" y="0"/>
                </a:moveTo>
                <a:lnTo>
                  <a:pt x="2406316" y="0"/>
                </a:lnTo>
                <a:lnTo>
                  <a:pt x="2406316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84610" y="2016847"/>
            <a:ext cx="1679375" cy="63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P4</a:t>
            </a:r>
          </a:p>
          <a:p>
            <a:pPr algn="ctr">
              <a:lnSpc>
                <a:spcPts val="2661"/>
              </a:lnSpc>
            </a:pPr>
            <a:r>
              <a:rPr lang="en-US" b="true" sz="2047">
                <a:solidFill>
                  <a:srgbClr val="F8F8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COMPANION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455110" y="2776725"/>
            <a:ext cx="2187560" cy="4514911"/>
          </a:xfrm>
          <a:custGeom>
            <a:avLst/>
            <a:gdLst/>
            <a:ahLst/>
            <a:cxnLst/>
            <a:rect r="r" b="b" t="t" l="l"/>
            <a:pathLst>
              <a:path h="4514911" w="2187560">
                <a:moveTo>
                  <a:pt x="0" y="0"/>
                </a:moveTo>
                <a:lnTo>
                  <a:pt x="2187560" y="0"/>
                </a:lnTo>
                <a:lnTo>
                  <a:pt x="218756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89330" y="471168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403464" y="471168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98842" y="471168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748622" y="6854356"/>
            <a:ext cx="11539378" cy="1508614"/>
          </a:xfrm>
          <a:custGeom>
            <a:avLst/>
            <a:gdLst/>
            <a:ahLst/>
            <a:cxnLst/>
            <a:rect r="r" b="b" t="t" l="l"/>
            <a:pathLst>
              <a:path h="1508614" w="11539378">
                <a:moveTo>
                  <a:pt x="0" y="0"/>
                </a:moveTo>
                <a:lnTo>
                  <a:pt x="11539378" y="0"/>
                </a:lnTo>
                <a:lnTo>
                  <a:pt x="11539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634883" y="8743190"/>
            <a:ext cx="9536906" cy="87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7"/>
              </a:lnSpc>
            </a:pPr>
            <a:r>
              <a:rPr lang="en-US" b="true" sz="2254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COUNTERFACTUAL SIMULATION IN A SANDBOX—</a:t>
            </a:r>
            <a:r>
              <a:rPr lang="en-US" b="true" sz="2254">
                <a:solidFill>
                  <a:srgbClr val="0ED1E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NOT PRESCRIBING NOT</a:t>
            </a:r>
            <a:r>
              <a:rPr lang="en-US" b="true" sz="2254">
                <a:solidFill>
                  <a:srgbClr val="F8F8F8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CLINICALLY VALIDATED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052" y="525908"/>
            <a:ext cx="8667431" cy="97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8"/>
              </a:lnSpc>
            </a:pPr>
            <a:r>
              <a:rPr lang="en-US" sz="6339" spc="-126" b="true">
                <a:solidFill>
                  <a:srgbClr val="F4F4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Architecture &amp;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7968" y="1489803"/>
            <a:ext cx="6175885" cy="97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8"/>
              </a:lnSpc>
            </a:pPr>
            <a:r>
              <a:rPr lang="en-US" sz="6431" b="true">
                <a:solidFill>
                  <a:srgbClr val="09E2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Fusion Pipeline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5196" y="3640352"/>
            <a:ext cx="4156364" cy="3869923"/>
          </a:xfrm>
          <a:custGeom>
            <a:avLst/>
            <a:gdLst/>
            <a:ahLst/>
            <a:cxnLst/>
            <a:rect r="r" b="b" t="t" l="l"/>
            <a:pathLst>
              <a:path h="3869923" w="4156364">
                <a:moveTo>
                  <a:pt x="0" y="0"/>
                </a:moveTo>
                <a:lnTo>
                  <a:pt x="4156364" y="0"/>
                </a:lnTo>
                <a:lnTo>
                  <a:pt x="415636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47098" y="5097110"/>
            <a:ext cx="2731322" cy="42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b="true" sz="2955" spc="-59">
                <a:solidFill>
                  <a:srgbClr val="F4F4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FUSION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68828" y="5670896"/>
            <a:ext cx="2946797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multimodal integration</a:t>
            </a:r>
          </a:p>
          <a:p>
            <a:pPr algn="ctr">
              <a:lnSpc>
                <a:spcPts val="2786"/>
              </a:lnSpc>
            </a:pPr>
            <a:r>
              <a:rPr lang="en-US" sz="2321" spc="-46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&amp; risk inference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54842" y="3848060"/>
            <a:ext cx="1531292" cy="448211"/>
          </a:xfrm>
          <a:custGeom>
            <a:avLst/>
            <a:gdLst/>
            <a:ahLst/>
            <a:cxnLst/>
            <a:rect r="r" b="b" t="t" l="l"/>
            <a:pathLst>
              <a:path h="448211" w="1531292">
                <a:moveTo>
                  <a:pt x="0" y="0"/>
                </a:moveTo>
                <a:lnTo>
                  <a:pt x="1531292" y="0"/>
                </a:lnTo>
                <a:lnTo>
                  <a:pt x="153129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2995365"/>
            <a:ext cx="5239206" cy="2372241"/>
          </a:xfrm>
          <a:custGeom>
            <a:avLst/>
            <a:gdLst/>
            <a:ahLst/>
            <a:cxnLst/>
            <a:rect r="r" b="b" t="t" l="l"/>
            <a:pathLst>
              <a:path h="2372241" w="5239206">
                <a:moveTo>
                  <a:pt x="0" y="0"/>
                </a:moveTo>
                <a:lnTo>
                  <a:pt x="5239206" y="0"/>
                </a:lnTo>
                <a:lnTo>
                  <a:pt x="5239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4086" y="2995365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34743" y="3454871"/>
            <a:ext cx="2453091" cy="54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b="true" sz="2021" spc="-40">
                <a:solidFill>
                  <a:srgbClr val="F4F4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SYNTHETIC EHR</a:t>
            </a:r>
          </a:p>
          <a:p>
            <a:pPr algn="l">
              <a:lnSpc>
                <a:spcPts val="2222"/>
              </a:lnSpc>
            </a:pPr>
            <a:r>
              <a:rPr lang="en-US" sz="2021" spc="-40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structured clinical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7809" y="4671001"/>
            <a:ext cx="2146487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b="true" sz="2091" spc="-41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XGBOOST MODEL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54842" y="6635716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5990729"/>
            <a:ext cx="5239206" cy="3017228"/>
          </a:xfrm>
          <a:custGeom>
            <a:avLst/>
            <a:gdLst/>
            <a:ahLst/>
            <a:cxnLst/>
            <a:rect r="r" b="b" t="t" l="l"/>
            <a:pathLst>
              <a:path h="3017228" w="5239206">
                <a:moveTo>
                  <a:pt x="0" y="0"/>
                </a:moveTo>
                <a:lnTo>
                  <a:pt x="5239206" y="0"/>
                </a:lnTo>
                <a:lnTo>
                  <a:pt x="523920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330" y="6428009"/>
            <a:ext cx="1968804" cy="1716322"/>
          </a:xfrm>
          <a:custGeom>
            <a:avLst/>
            <a:gdLst/>
            <a:ahLst/>
            <a:cxnLst/>
            <a:rect r="r" b="b" t="t" l="l"/>
            <a:pathLst>
              <a:path h="1716322" w="1968804">
                <a:moveTo>
                  <a:pt x="0" y="0"/>
                </a:moveTo>
                <a:lnTo>
                  <a:pt x="1968804" y="0"/>
                </a:lnTo>
                <a:lnTo>
                  <a:pt x="1968804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29585" y="6445787"/>
            <a:ext cx="2968810" cy="104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b="true" sz="2548" spc="-51">
                <a:solidFill>
                  <a:srgbClr val="F4F4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48-HOUR WEARABLE STREAM</a:t>
            </a:r>
          </a:p>
          <a:p>
            <a:pPr algn="l">
              <a:lnSpc>
                <a:spcPts val="2802"/>
              </a:lnSpc>
            </a:pPr>
            <a:r>
              <a:rPr lang="en-US" sz="2548" spc="-51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continuous biosignals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33659" y="7978125"/>
            <a:ext cx="2561458" cy="65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b="true" sz="2333" spc="-46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TEMPORAL STRESS</a:t>
            </a:r>
          </a:p>
          <a:p>
            <a:pPr algn="l">
              <a:lnSpc>
                <a:spcPts val="2565"/>
              </a:lnSpc>
            </a:pPr>
            <a:r>
              <a:rPr lang="en-US" b="true" sz="2333" spc="-46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EVALUATOR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01866" y="1924030"/>
            <a:ext cx="1750048" cy="3443576"/>
          </a:xfrm>
          <a:custGeom>
            <a:avLst/>
            <a:gdLst/>
            <a:ahLst/>
            <a:cxnLst/>
            <a:rect r="r" b="b" t="t" l="l"/>
            <a:pathLst>
              <a:path h="3443576" w="1750048">
                <a:moveTo>
                  <a:pt x="0" y="0"/>
                </a:moveTo>
                <a:lnTo>
                  <a:pt x="1750048" y="0"/>
                </a:lnTo>
                <a:lnTo>
                  <a:pt x="175004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622220" y="1497682"/>
            <a:ext cx="5020450" cy="1289974"/>
          </a:xfrm>
          <a:custGeom>
            <a:avLst/>
            <a:gdLst/>
            <a:ahLst/>
            <a:cxnLst/>
            <a:rect r="r" b="b" t="t" l="l"/>
            <a:pathLst>
              <a:path h="1289974" w="5020450">
                <a:moveTo>
                  <a:pt x="0" y="0"/>
                </a:moveTo>
                <a:lnTo>
                  <a:pt x="5020450" y="0"/>
                </a:lnTo>
                <a:lnTo>
                  <a:pt x="502045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175462" y="1969300"/>
            <a:ext cx="475627" cy="33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b="true" sz="2390" spc="-47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XAI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101866" y="3421712"/>
            <a:ext cx="1750048" cy="1945894"/>
          </a:xfrm>
          <a:custGeom>
            <a:avLst/>
            <a:gdLst/>
            <a:ahLst/>
            <a:cxnLst/>
            <a:rect r="r" b="b" t="t" l="l"/>
            <a:pathLst>
              <a:path h="1945894" w="1750048">
                <a:moveTo>
                  <a:pt x="0" y="0"/>
                </a:moveTo>
                <a:lnTo>
                  <a:pt x="1750048" y="0"/>
                </a:lnTo>
                <a:lnTo>
                  <a:pt x="175004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22220" y="2995365"/>
            <a:ext cx="5020450" cy="1300906"/>
          </a:xfrm>
          <a:custGeom>
            <a:avLst/>
            <a:gdLst/>
            <a:ahLst/>
            <a:cxnLst/>
            <a:rect r="r" b="b" t="t" l="l"/>
            <a:pathLst>
              <a:path h="1300906" w="5020450">
                <a:moveTo>
                  <a:pt x="0" y="0"/>
                </a:moveTo>
                <a:lnTo>
                  <a:pt x="5020450" y="0"/>
                </a:lnTo>
                <a:lnTo>
                  <a:pt x="5020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169444" y="3329304"/>
            <a:ext cx="1077467" cy="70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b="true" sz="2548" spc="-51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RISK</a:t>
            </a:r>
          </a:p>
          <a:p>
            <a:pPr algn="l">
              <a:lnSpc>
                <a:spcPts val="2802"/>
              </a:lnSpc>
            </a:pPr>
            <a:r>
              <a:rPr lang="en-US" b="true" sz="2548" spc="-51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STATUS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89398" y="3371283"/>
            <a:ext cx="2303859" cy="6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patient-level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risk assessment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101866" y="4919394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622220" y="4493047"/>
            <a:ext cx="5020450" cy="1300906"/>
          </a:xfrm>
          <a:custGeom>
            <a:avLst/>
            <a:gdLst/>
            <a:ahLst/>
            <a:cxnLst/>
            <a:rect r="r" b="b" t="t" l="l"/>
            <a:pathLst>
              <a:path h="1300906" w="5020450">
                <a:moveTo>
                  <a:pt x="0" y="0"/>
                </a:moveTo>
                <a:lnTo>
                  <a:pt x="5020450" y="0"/>
                </a:lnTo>
                <a:lnTo>
                  <a:pt x="5020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169561" y="5036512"/>
            <a:ext cx="1065744" cy="32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b="true" sz="2337" spc="-46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FHIR R4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89398" y="4862306"/>
            <a:ext cx="2303859" cy="6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interoperable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clinical data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101866" y="5356674"/>
            <a:ext cx="1750048" cy="3224936"/>
          </a:xfrm>
          <a:custGeom>
            <a:avLst/>
            <a:gdLst/>
            <a:ahLst/>
            <a:cxnLst/>
            <a:rect r="r" b="b" t="t" l="l"/>
            <a:pathLst>
              <a:path h="3224936" w="1750048">
                <a:moveTo>
                  <a:pt x="0" y="0"/>
                </a:moveTo>
                <a:lnTo>
                  <a:pt x="1750048" y="0"/>
                </a:lnTo>
                <a:lnTo>
                  <a:pt x="175004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622220" y="5990729"/>
            <a:ext cx="5020450" cy="1519546"/>
          </a:xfrm>
          <a:custGeom>
            <a:avLst/>
            <a:gdLst/>
            <a:ahLst/>
            <a:cxnLst/>
            <a:rect r="r" b="b" t="t" l="l"/>
            <a:pathLst>
              <a:path h="1519546" w="5020450">
                <a:moveTo>
                  <a:pt x="0" y="0"/>
                </a:moveTo>
                <a:lnTo>
                  <a:pt x="5020450" y="0"/>
                </a:lnTo>
                <a:lnTo>
                  <a:pt x="502045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163962" y="6562856"/>
            <a:ext cx="1625629" cy="33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b="true" sz="2390" spc="-47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89398" y="6413572"/>
            <a:ext cx="2303859" cy="6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what-if scenario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exploration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101866" y="6428009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622220" y="7499343"/>
            <a:ext cx="5020450" cy="1508614"/>
          </a:xfrm>
          <a:custGeom>
            <a:avLst/>
            <a:gdLst/>
            <a:ahLst/>
            <a:cxnLst/>
            <a:rect r="r" b="b" t="t" l="l"/>
            <a:pathLst>
              <a:path h="1508614" w="5020450">
                <a:moveTo>
                  <a:pt x="0" y="0"/>
                </a:moveTo>
                <a:lnTo>
                  <a:pt x="5020450" y="0"/>
                </a:lnTo>
                <a:lnTo>
                  <a:pt x="5020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162638" y="7966304"/>
            <a:ext cx="1758125" cy="65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b="true" sz="2390" spc="-47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</a:t>
            </a:r>
          </a:p>
          <a:p>
            <a:pPr algn="l">
              <a:lnSpc>
                <a:spcPts val="2628"/>
              </a:lnSpc>
            </a:pPr>
            <a:r>
              <a:rPr lang="en-US" b="true" sz="2390" spc="-47">
                <a:solidFill>
                  <a:srgbClr val="09E2F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ESCALATION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89398" y="7964839"/>
            <a:ext cx="2303859" cy="6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real-time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risk escalation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89398" y="1835077"/>
            <a:ext cx="2303859" cy="61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explanable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4F4F4"/>
                </a:solidFill>
                <a:latin typeface="HK Grotesk"/>
                <a:ea typeface="HK Grotesk"/>
                <a:cs typeface="HK Grotesk"/>
                <a:sym typeface="HK Grotesk"/>
              </a:rPr>
              <a:t>insights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938" y="687476"/>
            <a:ext cx="12321049" cy="78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9"/>
              </a:lnSpc>
            </a:pPr>
            <a:r>
              <a:rPr lang="en-US" sz="6009" spc="-120" b="true">
                <a:solidFill>
                  <a:srgbClr val="F6F6F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Synthetic Sandbox &amp; </a:t>
            </a:r>
            <a:r>
              <a:rPr lang="en-US" sz="6009" spc="-120" b="true">
                <a:solidFill>
                  <a:srgbClr val="12D1E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Fusion Math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705390"/>
            <a:ext cx="4582938" cy="7302567"/>
          </a:xfrm>
          <a:custGeom>
            <a:avLst/>
            <a:gdLst/>
            <a:ahLst/>
            <a:cxnLst/>
            <a:rect r="r" b="b" t="t" l="l"/>
            <a:pathLst>
              <a:path h="7302567" w="4582938">
                <a:moveTo>
                  <a:pt x="0" y="0"/>
                </a:moveTo>
                <a:lnTo>
                  <a:pt x="4582938" y="0"/>
                </a:lnTo>
                <a:lnTo>
                  <a:pt x="4582938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8951" y="2247040"/>
            <a:ext cx="1224454" cy="73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</a:pPr>
            <a:r>
              <a:rPr lang="en-US" sz="5554" spc="-111" b="true">
                <a:solidFill>
                  <a:srgbClr val="12D1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4823" y="3061294"/>
            <a:ext cx="2637277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synthetic profiles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640352"/>
            <a:ext cx="3707914" cy="218640"/>
          </a:xfrm>
          <a:custGeom>
            <a:avLst/>
            <a:gdLst/>
            <a:ahLst/>
            <a:cxnLst/>
            <a:rect r="r" b="b" t="t" l="l"/>
            <a:pathLst>
              <a:path h="218640" w="3707914">
                <a:moveTo>
                  <a:pt x="0" y="0"/>
                </a:moveTo>
                <a:lnTo>
                  <a:pt x="3707914" y="0"/>
                </a:lnTo>
                <a:lnTo>
                  <a:pt x="3707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9960" y="4230886"/>
            <a:ext cx="2123567" cy="6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spc="-91" b="true">
                <a:solidFill>
                  <a:srgbClr val="12D1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48-hour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4912" y="4943899"/>
            <a:ext cx="3628373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hourly wearable stream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564382"/>
            <a:ext cx="3707914" cy="229572"/>
          </a:xfrm>
          <a:custGeom>
            <a:avLst/>
            <a:gdLst/>
            <a:ahLst/>
            <a:cxnLst/>
            <a:rect r="r" b="b" t="t" l="l"/>
            <a:pathLst>
              <a:path h="229572" w="3707914">
                <a:moveTo>
                  <a:pt x="0" y="0"/>
                </a:moveTo>
                <a:lnTo>
                  <a:pt x="3707914" y="0"/>
                </a:lnTo>
                <a:lnTo>
                  <a:pt x="370791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110" y="6058401"/>
            <a:ext cx="3108534" cy="4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 b="true">
                <a:solidFill>
                  <a:srgbClr val="1FB3C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multimodal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161" y="6685573"/>
            <a:ext cx="2603444" cy="186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heart rate variability</a:t>
            </a:r>
          </a:p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resting heart rate</a:t>
            </a:r>
          </a:p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activity</a:t>
            </a:r>
          </a:p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sleep</a:t>
            </a:r>
          </a:p>
          <a:p>
            <a:pPr algn="l">
              <a:lnSpc>
                <a:spcPts val="3055"/>
              </a:lnSpc>
            </a:pPr>
            <a:r>
              <a:rPr lang="en-US" sz="2351" spc="-47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oxygen saturation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779818" y="491939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17330" y="1705390"/>
            <a:ext cx="6114230" cy="7302567"/>
          </a:xfrm>
          <a:custGeom>
            <a:avLst/>
            <a:gdLst/>
            <a:ahLst/>
            <a:cxnLst/>
            <a:rect r="r" b="b" t="t" l="l"/>
            <a:pathLst>
              <a:path h="7302567" w="6114230">
                <a:moveTo>
                  <a:pt x="0" y="0"/>
                </a:moveTo>
                <a:lnTo>
                  <a:pt x="6114230" y="0"/>
                </a:lnTo>
                <a:lnTo>
                  <a:pt x="6114230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30454" y="2036247"/>
            <a:ext cx="2919418" cy="48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b="true" sz="2623" spc="-52">
                <a:solidFill>
                  <a:srgbClr val="1FB3C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PAT_001 EXAMPLE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8914" y="3230140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120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98914" y="3832574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80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98914" y="4435007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98914" y="6106761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80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8914" y="6573647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60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98914" y="6995350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98914" y="7432115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20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5523" y="8124913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109" spc="-42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12h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70664" y="8124913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109" spc="-42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24h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95805" y="8124913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109" spc="-42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36h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67367" y="8124913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109" spc="-42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48h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311110" y="3421712"/>
            <a:ext cx="4582938" cy="1300906"/>
          </a:xfrm>
          <a:custGeom>
            <a:avLst/>
            <a:gdLst/>
            <a:ahLst/>
            <a:cxnLst/>
            <a:rect r="r" b="b" t="t" l="l"/>
            <a:pathLst>
              <a:path h="1300906" w="4582938">
                <a:moveTo>
                  <a:pt x="0" y="0"/>
                </a:moveTo>
                <a:lnTo>
                  <a:pt x="4582938" y="0"/>
                </a:lnTo>
                <a:lnTo>
                  <a:pt x="458293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311110" y="6428009"/>
            <a:ext cx="4582938" cy="437279"/>
          </a:xfrm>
          <a:custGeom>
            <a:avLst/>
            <a:gdLst/>
            <a:ahLst/>
            <a:cxnLst/>
            <a:rect r="r" b="b" t="t" l="l"/>
            <a:pathLst>
              <a:path h="437279" w="4582938">
                <a:moveTo>
                  <a:pt x="0" y="0"/>
                </a:moveTo>
                <a:lnTo>
                  <a:pt x="4582938" y="0"/>
                </a:lnTo>
                <a:lnTo>
                  <a:pt x="458293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747196" y="1705390"/>
            <a:ext cx="6114230" cy="7302567"/>
          </a:xfrm>
          <a:custGeom>
            <a:avLst/>
            <a:gdLst/>
            <a:ahLst/>
            <a:cxnLst/>
            <a:rect r="r" b="b" t="t" l="l"/>
            <a:pathLst>
              <a:path h="7302567" w="6114230">
                <a:moveTo>
                  <a:pt x="0" y="0"/>
                </a:moveTo>
                <a:lnTo>
                  <a:pt x="6114230" y="0"/>
                </a:lnTo>
                <a:lnTo>
                  <a:pt x="6114230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47398" y="2036247"/>
            <a:ext cx="2914913" cy="48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b="true" sz="2623" spc="-52">
                <a:solidFill>
                  <a:srgbClr val="1FB3C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FUSION EQUATION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77901" y="2781526"/>
            <a:ext cx="5222427" cy="110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RISK = w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1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+HRV + w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2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+RHR + w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3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+ACT + w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4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+SLEEP + w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5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+SpO</a:t>
            </a:r>
            <a:r>
              <a:rPr lang="en-US" sz="2896" spc="-57" b="true">
                <a:solidFill>
                  <a:srgbClr val="F6F6F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2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184708" y="4285339"/>
            <a:ext cx="5239206" cy="218640"/>
          </a:xfrm>
          <a:custGeom>
            <a:avLst/>
            <a:gdLst/>
            <a:ahLst/>
            <a:cxnLst/>
            <a:rect r="r" b="b" t="t" l="l"/>
            <a:pathLst>
              <a:path h="218640" w="5239206">
                <a:moveTo>
                  <a:pt x="0" y="0"/>
                </a:moveTo>
                <a:lnTo>
                  <a:pt x="5239206" y="0"/>
                </a:lnTo>
                <a:lnTo>
                  <a:pt x="5239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169423" y="4536347"/>
            <a:ext cx="1960069" cy="48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b="true" sz="2623" spc="-52">
                <a:solidFill>
                  <a:srgbClr val="1FB3C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RISK STATES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1965952" y="5138034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443451" y="5511197"/>
            <a:ext cx="1346262" cy="60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b="true" sz="3234" spc="-64">
                <a:solidFill>
                  <a:srgbClr val="48E1A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GREEN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965952" y="6428009"/>
            <a:ext cx="5676718" cy="1289974"/>
          </a:xfrm>
          <a:custGeom>
            <a:avLst/>
            <a:gdLst/>
            <a:ahLst/>
            <a:cxnLst/>
            <a:rect r="r" b="b" t="t" l="l"/>
            <a:pathLst>
              <a:path h="1289974" w="5676718">
                <a:moveTo>
                  <a:pt x="0" y="0"/>
                </a:moveTo>
                <a:lnTo>
                  <a:pt x="5676718" y="0"/>
                </a:lnTo>
                <a:lnTo>
                  <a:pt x="5676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440500" y="6731125"/>
            <a:ext cx="1641407" cy="60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b="true" sz="3234" spc="-64">
                <a:solidFill>
                  <a:srgbClr val="E8C76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YELLOW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492883" y="6725099"/>
            <a:ext cx="2678906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watch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moderate concern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965952" y="7707051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2449095" y="7951053"/>
            <a:ext cx="781906" cy="60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b="true" sz="3234" spc="-64">
                <a:solidFill>
                  <a:srgbClr val="E0534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101866" y="491939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87928" y="9163460"/>
            <a:ext cx="8179891" cy="37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1FB3C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SYNTHETIC SANDBOX RESULTS AND INVESTIGATIONAL SIMULATIONS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1141" y="9555042"/>
            <a:ext cx="6858513" cy="37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NOT CLINICALLY VALIDATED OR PRESCRIBING GUIDANCE.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92883" y="7929966"/>
            <a:ext cx="2678906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act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high concern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492883" y="5505171"/>
            <a:ext cx="2678906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stable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D9D9D9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low concern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759648" y="5630046"/>
            <a:ext cx="5223867" cy="4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8" spc="-43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RHR (bpm)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59648" y="2753426"/>
            <a:ext cx="5223867" cy="41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8" spc="-43" b="true">
                <a:solidFill>
                  <a:srgbClr val="D9D9D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HRV (ms)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973961" y="8124913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0h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98914" y="5037441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598914" y="7838757"/>
            <a:ext cx="776883" cy="4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09" spc="-42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1842" y="635141"/>
            <a:ext cx="8393930" cy="87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6746" spc="-65" b="true">
                <a:solidFill>
                  <a:srgbClr val="FFFFFF">
                    <a:alpha val="89804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PK/PD Shadow Twin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5371" y="1634839"/>
            <a:ext cx="9041056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57C7D7"/>
                </a:solidFill>
                <a:latin typeface="HK Grotesk"/>
                <a:ea typeface="HK Grotesk"/>
                <a:cs typeface="HK Grotesk"/>
                <a:sym typeface="HK Grotesk"/>
              </a:rPr>
              <a:t>mechanistic models. regimen scenarios. safety guardrails.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5676718" cy="6646648"/>
          </a:xfrm>
          <a:custGeom>
            <a:avLst/>
            <a:gdLst/>
            <a:ahLst/>
            <a:cxnLst/>
            <a:rect r="r" b="b" t="t" l="l"/>
            <a:pathLst>
              <a:path h="6646648" w="5676718">
                <a:moveTo>
                  <a:pt x="0" y="0"/>
                </a:moveTo>
                <a:lnTo>
                  <a:pt x="5676718" y="0"/>
                </a:lnTo>
                <a:lnTo>
                  <a:pt x="5676718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5781" y="2513687"/>
            <a:ext cx="3348633" cy="39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b="true" sz="2387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BATEMAN PK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094" y="3388073"/>
            <a:ext cx="4109271" cy="123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F·D·k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</a:p>
          <a:p>
            <a:pPr algn="ctr">
              <a:lnSpc>
                <a:spcPts val="3270"/>
              </a:lnSpc>
            </a:pP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C(t) =  _______ (e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-kt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– e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-k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*)</a:t>
            </a:r>
          </a:p>
          <a:p>
            <a:pPr algn="ctr">
              <a:lnSpc>
                <a:spcPts val="3270"/>
              </a:lnSpc>
            </a:pP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(k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72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– k)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574" y="5121862"/>
            <a:ext cx="2524600" cy="306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plasma concentration</a:t>
            </a:r>
          </a:p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bioavailability</a:t>
            </a:r>
          </a:p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dose</a:t>
            </a:r>
          </a:p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absorption rate</a:t>
            </a:r>
          </a:p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elimination rate</a:t>
            </a:r>
          </a:p>
          <a:p>
            <a:pPr algn="l">
              <a:lnSpc>
                <a:spcPts val="4170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volume of distribution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73598" y="2142670"/>
            <a:ext cx="4582938" cy="6646648"/>
          </a:xfrm>
          <a:custGeom>
            <a:avLst/>
            <a:gdLst/>
            <a:ahLst/>
            <a:cxnLst/>
            <a:rect r="r" b="b" t="t" l="l"/>
            <a:pathLst>
              <a:path h="6646648" w="4582938">
                <a:moveTo>
                  <a:pt x="0" y="0"/>
                </a:moveTo>
                <a:lnTo>
                  <a:pt x="4582938" y="0"/>
                </a:lnTo>
                <a:lnTo>
                  <a:pt x="4582938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54328" y="2513687"/>
            <a:ext cx="2705695" cy="39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b="true" sz="2387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HILL PD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7698" y="3487323"/>
            <a:ext cx="3371200" cy="11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max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· C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</a:p>
          <a:p>
            <a:pPr algn="ctr">
              <a:lnSpc>
                <a:spcPts val="3185"/>
              </a:lnSpc>
            </a:pP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E(C) =  _______ (EC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50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+ C</a:t>
            </a:r>
            <a:r>
              <a:rPr lang="en-US" sz="26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6873" y="5425827"/>
            <a:ext cx="3938472" cy="23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</a:pPr>
            <a:r>
              <a:rPr lang="en-US" sz="2311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pharmacodynamic effect</a:t>
            </a:r>
          </a:p>
          <a:p>
            <a:pPr algn="l">
              <a:lnSpc>
                <a:spcPts val="4853"/>
              </a:lnSpc>
            </a:pPr>
            <a:r>
              <a:rPr lang="en-US" sz="2311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maximum effect</a:t>
            </a:r>
          </a:p>
          <a:p>
            <a:pPr algn="l">
              <a:lnSpc>
                <a:spcPts val="4853"/>
              </a:lnSpc>
            </a:pPr>
            <a:r>
              <a:rPr lang="en-US" sz="2311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concentration for 50% effect</a:t>
            </a:r>
          </a:p>
          <a:p>
            <a:pPr algn="l">
              <a:lnSpc>
                <a:spcPts val="4853"/>
              </a:lnSpc>
            </a:pPr>
            <a:r>
              <a:rPr lang="en-US" sz="2311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hill coefficient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45598" y="2142670"/>
            <a:ext cx="7415828" cy="5793953"/>
          </a:xfrm>
          <a:custGeom>
            <a:avLst/>
            <a:gdLst/>
            <a:ahLst/>
            <a:cxnLst/>
            <a:rect r="r" b="b" t="t" l="l"/>
            <a:pathLst>
              <a:path h="5793953" w="7415828">
                <a:moveTo>
                  <a:pt x="0" y="0"/>
                </a:moveTo>
                <a:lnTo>
                  <a:pt x="7415828" y="0"/>
                </a:lnTo>
                <a:lnTo>
                  <a:pt x="741582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33609" y="2513687"/>
            <a:ext cx="4848820" cy="39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b="true" sz="2387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12-HOUR IN-SILICO COMPARISON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278488" y="3421712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78488" y="4493047"/>
            <a:ext cx="3707914" cy="655919"/>
          </a:xfrm>
          <a:custGeom>
            <a:avLst/>
            <a:gdLst/>
            <a:ahLst/>
            <a:cxnLst/>
            <a:rect r="r" b="b" t="t" l="l"/>
            <a:pathLst>
              <a:path h="655919" w="3707914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78488" y="5990729"/>
            <a:ext cx="3707914" cy="229572"/>
          </a:xfrm>
          <a:custGeom>
            <a:avLst/>
            <a:gdLst/>
            <a:ahLst/>
            <a:cxnLst/>
            <a:rect r="r" b="b" t="t" l="l"/>
            <a:pathLst>
              <a:path h="229572" w="3707914">
                <a:moveTo>
                  <a:pt x="0" y="0"/>
                </a:moveTo>
                <a:lnTo>
                  <a:pt x="3707914" y="0"/>
                </a:lnTo>
                <a:lnTo>
                  <a:pt x="370791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78488" y="7062064"/>
            <a:ext cx="3707914" cy="448211"/>
          </a:xfrm>
          <a:custGeom>
            <a:avLst/>
            <a:gdLst/>
            <a:ahLst/>
            <a:cxnLst/>
            <a:rect r="r" b="b" t="t" l="l"/>
            <a:pathLst>
              <a:path h="448211" w="3707914">
                <a:moveTo>
                  <a:pt x="0" y="0"/>
                </a:moveTo>
                <a:lnTo>
                  <a:pt x="3707914" y="0"/>
                </a:lnTo>
                <a:lnTo>
                  <a:pt x="370791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6574" y="8997026"/>
            <a:ext cx="10029962" cy="1082267"/>
          </a:xfrm>
          <a:custGeom>
            <a:avLst/>
            <a:gdLst/>
            <a:ahLst/>
            <a:cxnLst/>
            <a:rect r="r" b="b" t="t" l="l"/>
            <a:pathLst>
              <a:path h="1082267" w="10029962">
                <a:moveTo>
                  <a:pt x="0" y="0"/>
                </a:moveTo>
                <a:lnTo>
                  <a:pt x="10029962" y="0"/>
                </a:lnTo>
                <a:lnTo>
                  <a:pt x="10029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5781" y="9351309"/>
            <a:ext cx="3214688" cy="39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b="true" sz="2387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SIMULATION ONLY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696976" y="9204733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339828" y="9394828"/>
            <a:ext cx="640258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not clinically validated. not treatment advice.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445598" y="7925691"/>
            <a:ext cx="7415828" cy="1727254"/>
          </a:xfrm>
          <a:custGeom>
            <a:avLst/>
            <a:gdLst/>
            <a:ahLst/>
            <a:cxnLst/>
            <a:rect r="r" b="b" t="t" l="l"/>
            <a:pathLst>
              <a:path h="1727254" w="7415828">
                <a:moveTo>
                  <a:pt x="0" y="0"/>
                </a:moveTo>
                <a:lnTo>
                  <a:pt x="7415828" y="0"/>
                </a:lnTo>
                <a:lnTo>
                  <a:pt x="7415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501312" y="8281138"/>
            <a:ext cx="281285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BRADYCARDIA</a:t>
            </a:r>
          </a:p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57C7D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GUARDRAIL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059732" y="813339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448109" y="8281138"/>
            <a:ext cx="450056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model flags low heart rate risk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FFFFFF">
                    <a:alpha val="8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across simulated regimens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37094" y="6850358"/>
            <a:ext cx="281285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Amiodarone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57C7D7"/>
                </a:solidFill>
                <a:latin typeface="HK Grotesk"/>
                <a:ea typeface="HK Grotesk"/>
                <a:cs typeface="HK Grotesk"/>
                <a:sym typeface="HK Grotesk"/>
              </a:rPr>
              <a:t>200 mg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37094" y="4515928"/>
            <a:ext cx="281285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Metoprolol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57C7D7"/>
                </a:solidFill>
                <a:latin typeface="HK Grotesk"/>
                <a:ea typeface="HK Grotesk"/>
                <a:cs typeface="HK Grotesk"/>
                <a:sym typeface="HK Grotesk"/>
              </a:rPr>
              <a:t>50 mg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37094" y="3341183"/>
            <a:ext cx="281285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Metoprolol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57C7D7"/>
                </a:solidFill>
                <a:latin typeface="HK Grotesk"/>
                <a:ea typeface="HK Grotesk"/>
                <a:cs typeface="HK Grotesk"/>
                <a:sym typeface="HK Grotesk"/>
              </a:rPr>
              <a:t>25 mg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37094" y="5690674"/>
            <a:ext cx="2812852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Ivabradine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57C7D7"/>
                </a:solidFill>
                <a:latin typeface="HK Grotesk"/>
                <a:ea typeface="HK Grotesk"/>
                <a:cs typeface="HK Grotesk"/>
                <a:sym typeface="HK Grotesk"/>
              </a:rPr>
              <a:t>5 mg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808" y="600722"/>
            <a:ext cx="6818403" cy="228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3"/>
              </a:lnSpc>
            </a:pPr>
            <a:r>
              <a:rPr lang="en-US" sz="9078" spc="-181" b="true">
                <a:solidFill>
                  <a:srgbClr val="F6F6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Explainability &amp; </a:t>
            </a:r>
            <a:r>
              <a:rPr lang="en-US" sz="9078" spc="-181" b="true">
                <a:solidFill>
                  <a:srgbClr val="0AD6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Escalation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995365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4703" y="3765447"/>
            <a:ext cx="3107818" cy="137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Risk drivers are transparent and shift over time.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7886" y="5683310"/>
            <a:ext cx="2789565" cy="8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 spc="-51" b="true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</a:t>
            </a:r>
            <a:r>
              <a:rPr lang="en-US" sz="2575" spc="-51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 status initiates</a:t>
            </a:r>
          </a:p>
          <a:p>
            <a:pPr algn="l">
              <a:lnSpc>
                <a:spcPts val="3606"/>
              </a:lnSpc>
            </a:pPr>
            <a:r>
              <a:rPr lang="en-US" sz="2575" spc="-51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audit logging.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686" y="7154136"/>
            <a:ext cx="3109532" cy="137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Clinicians are alerted via webhook in</a:t>
            </a:r>
          </a:p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 time.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15732" y="2776725"/>
            <a:ext cx="6103292" cy="3224936"/>
          </a:xfrm>
          <a:custGeom>
            <a:avLst/>
            <a:gdLst/>
            <a:ahLst/>
            <a:cxnLst/>
            <a:rect r="r" b="b" t="t" l="l"/>
            <a:pathLst>
              <a:path h="3224936" w="6103292">
                <a:moveTo>
                  <a:pt x="0" y="0"/>
                </a:moveTo>
                <a:lnTo>
                  <a:pt x="6103292" y="0"/>
                </a:lnTo>
                <a:lnTo>
                  <a:pt x="610329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89634" y="3091221"/>
            <a:ext cx="2340508" cy="61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b="true" sz="2135" spc="-42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RISK ATTRIBUTION</a:t>
            </a:r>
          </a:p>
          <a:p>
            <a:pPr algn="l">
              <a:lnSpc>
                <a:spcPts val="2456"/>
              </a:lnSpc>
            </a:pPr>
            <a:r>
              <a:rPr lang="en-US" b="true" sz="2135" spc="-42">
                <a:solidFill>
                  <a:srgbClr val="F6F6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 10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393952" y="3848060"/>
            <a:ext cx="1750048" cy="448211"/>
          </a:xfrm>
          <a:custGeom>
            <a:avLst/>
            <a:gdLst/>
            <a:ahLst/>
            <a:cxnLst/>
            <a:rect r="r" b="b" t="t" l="l"/>
            <a:pathLst>
              <a:path h="448211" w="1750048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98613" y="4473402"/>
            <a:ext cx="1442593" cy="56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b="true" sz="1757" spc="-35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BASELINE-LED EXAMPLE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393952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93952" y="4711687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93952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915732" y="5990729"/>
            <a:ext cx="6103292" cy="3662216"/>
          </a:xfrm>
          <a:custGeom>
            <a:avLst/>
            <a:gdLst/>
            <a:ahLst/>
            <a:cxnLst/>
            <a:rect r="r" b="b" t="t" l="l"/>
            <a:pathLst>
              <a:path h="3662216" w="6103292">
                <a:moveTo>
                  <a:pt x="0" y="0"/>
                </a:moveTo>
                <a:lnTo>
                  <a:pt x="6103292" y="0"/>
                </a:lnTo>
                <a:lnTo>
                  <a:pt x="6103292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89634" y="6479910"/>
            <a:ext cx="2340508" cy="61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b="true" sz="2135" spc="-42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RISK ATTRIBUTION</a:t>
            </a:r>
          </a:p>
          <a:p>
            <a:pPr algn="l">
              <a:lnSpc>
                <a:spcPts val="2456"/>
              </a:lnSpc>
            </a:pPr>
            <a:r>
              <a:rPr lang="en-US" b="true" sz="2135" spc="-42">
                <a:solidFill>
                  <a:srgbClr val="F6F6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HOUR 47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393952" y="7280704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295135" y="7867262"/>
            <a:ext cx="1790431" cy="85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801" spc="-36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HRV AND</a:t>
            </a:r>
          </a:p>
          <a:p>
            <a:pPr algn="l">
              <a:lnSpc>
                <a:spcPts val="2341"/>
              </a:lnSpc>
            </a:pPr>
            <a:r>
              <a:rPr lang="en-US" b="true" sz="1801" spc="-36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BASELINE CONTRIBUTIONS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393952" y="7707051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93952" y="8352038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393952" y="877838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26842" y="2142670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101866" y="4066699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26842" y="449304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101866" y="6428009"/>
            <a:ext cx="437512" cy="863627"/>
          </a:xfrm>
          <a:custGeom>
            <a:avLst/>
            <a:gdLst/>
            <a:ahLst/>
            <a:cxnLst/>
            <a:rect r="r" b="b" t="t" l="l"/>
            <a:pathLst>
              <a:path h="863627" w="437512">
                <a:moveTo>
                  <a:pt x="0" y="0"/>
                </a:moveTo>
                <a:lnTo>
                  <a:pt x="437512" y="0"/>
                </a:lnTo>
                <a:lnTo>
                  <a:pt x="43751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226842" y="7062064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2220" y="1924030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958393" y="2805707"/>
            <a:ext cx="751284" cy="19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spc="-23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Time (UTC)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23020" y="2797677"/>
            <a:ext cx="380831" cy="21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2"/>
              </a:lnSpc>
            </a:pPr>
            <a:r>
              <a:rPr lang="en-US" sz="1265" spc="-25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Event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53491" y="4402978"/>
            <a:ext cx="1241507" cy="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2024-05-21 14:47:13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15975" y="4501152"/>
            <a:ext cx="1085345" cy="18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AUDIT_LOGGED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43093" y="4402978"/>
            <a:ext cx="1047629" cy="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Record ID 712c...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622220" y="5783021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223101" y="7170026"/>
            <a:ext cx="3748517" cy="123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388" b="true">
                <a:solidFill>
                  <a:srgbClr val="327D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"patient_id";   "PT-12845";  "event";   "REDSTATUS TRIGGered", "risk_score";  8 .87, "timestamp";   "2024-05-21T14:47:122";  "reason";   "riskthresholdExceeded";  "action";   "reviewRequired"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12328" y="6143409"/>
            <a:ext cx="3750469" cy="39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 b="true">
                <a:solidFill>
                  <a:srgbClr val="F6F6F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Webhook payload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10770" y="3342071"/>
            <a:ext cx="1605813" cy="18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RED STATUS TRIGGERSD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12328" y="2167347"/>
            <a:ext cx="3750469" cy="39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spc="-47" b="true">
                <a:solidFill>
                  <a:srgbClr val="F6F6F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Audit log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53500" y="3243293"/>
            <a:ext cx="1240596" cy="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2024-05-21 14:47:12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907037" y="3896416"/>
            <a:ext cx="1365923" cy="2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406" spc="-28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Baseline deviation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07037" y="7872478"/>
            <a:ext cx="1365923" cy="2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406" spc="-28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Baseline deviation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53500" y="3815605"/>
            <a:ext cx="1240596" cy="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2024-05-21 14:47:12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53446" y="5005412"/>
            <a:ext cx="1246058" cy="38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5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2024-05-21 14:47:14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345722" y="3905149"/>
            <a:ext cx="1348003" cy="19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3"/>
              </a:lnSpc>
            </a:pPr>
            <a:r>
              <a:rPr lang="en-US" sz="1195" spc="-23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Attribution captured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15793" y="3913780"/>
            <a:ext cx="1103545" cy="18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4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RISK_SNAPSHOT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29594" y="3326407"/>
            <a:ext cx="960254" cy="18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5"/>
              </a:lnSpc>
            </a:pPr>
            <a:r>
              <a:rPr lang="en-US" sz="1124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Risk score 0.87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615234" y="5103586"/>
            <a:ext cx="1159442" cy="18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24" spc="-22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WEBHOOK_SENT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95019" y="5094955"/>
            <a:ext cx="894168" cy="19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3"/>
              </a:lnSpc>
            </a:pPr>
            <a:r>
              <a:rPr lang="en-US" sz="1195" spc="-23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Clinician alert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704907" y="4890368"/>
            <a:ext cx="559993" cy="2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406" spc="-28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Activity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704907" y="8384483"/>
            <a:ext cx="559993" cy="24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9"/>
              </a:lnSpc>
            </a:pPr>
            <a:r>
              <a:rPr lang="en-US" sz="1406" spc="-28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Activity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19166" y="4369137"/>
            <a:ext cx="386434" cy="28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4"/>
              </a:lnSpc>
            </a:pPr>
            <a:r>
              <a:rPr lang="en-US" b="true" sz="1617" spc="-32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18%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96451" y="4856961"/>
            <a:ext cx="308369" cy="32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09"/>
              </a:lnSpc>
            </a:pPr>
            <a:r>
              <a:rPr lang="en-US" b="true" sz="1863" spc="-37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9%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300830" y="5356575"/>
            <a:ext cx="303945" cy="29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3"/>
              </a:lnSpc>
            </a:pPr>
            <a:r>
              <a:rPr lang="en-US" b="true" sz="1801" spc="-36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5%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86962" y="7825771"/>
            <a:ext cx="418964" cy="29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7"/>
              </a:lnSpc>
            </a:pPr>
            <a:r>
              <a:rPr lang="en-US" b="true" sz="1740" spc="-34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34%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226895" y="8353342"/>
            <a:ext cx="378627" cy="26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78"/>
              </a:lnSpc>
            </a:pPr>
            <a:r>
              <a:rPr lang="en-US" b="true" sz="1555" spc="-31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12%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297739" y="8848084"/>
            <a:ext cx="307068" cy="32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09"/>
              </a:lnSpc>
            </a:pPr>
            <a:r>
              <a:rPr lang="en-US" b="true" sz="1863" spc="-37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8%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172792" y="3865552"/>
            <a:ext cx="433277" cy="29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3"/>
              </a:lnSpc>
            </a:pPr>
            <a:r>
              <a:rPr lang="en-US" b="true" sz="1801" spc="-36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68%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75368" y="7344606"/>
            <a:ext cx="430674" cy="29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3"/>
              </a:lnSpc>
            </a:pPr>
            <a:r>
              <a:rPr lang="en-US" b="true" sz="1801" spc="-36">
                <a:solidFill>
                  <a:srgbClr val="29C2D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46%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67857" y="5373209"/>
            <a:ext cx="395397" cy="24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67"/>
              </a:lnSpc>
            </a:pPr>
            <a:r>
              <a:rPr lang="en-US" sz="1476" spc="-29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SpO₂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867857" y="8867324"/>
            <a:ext cx="395397" cy="24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67"/>
              </a:lnSpc>
            </a:pPr>
            <a:r>
              <a:rPr lang="en-US" sz="1476" spc="-29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SpO₂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27395" y="4425977"/>
            <a:ext cx="335257" cy="21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0"/>
              </a:lnSpc>
            </a:pPr>
            <a:r>
              <a:rPr lang="en-US" sz="1335" spc="-26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HRV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927395" y="7377901"/>
            <a:ext cx="335257" cy="21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0"/>
              </a:lnSpc>
            </a:pPr>
            <a:r>
              <a:rPr lang="en-US" sz="1335" spc="-26">
                <a:solidFill>
                  <a:srgbClr val="F6F6F6"/>
                </a:solidFill>
                <a:latin typeface="HK Grotesk"/>
                <a:ea typeface="HK Grotesk"/>
                <a:cs typeface="HK Grotesk"/>
                <a:sym typeface="HK Grotesk"/>
              </a:rPr>
              <a:t>HRV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487" y="1235597"/>
            <a:ext cx="6639532" cy="21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9"/>
              </a:lnSpc>
            </a:pPr>
            <a:r>
              <a:rPr lang="en-US" sz="8046" spc="-16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FHIR R4 &amp; </a:t>
            </a:r>
          </a:p>
          <a:p>
            <a:pPr algn="l">
              <a:lnSpc>
                <a:spcPts val="8289"/>
              </a:lnSpc>
            </a:pPr>
            <a:r>
              <a:rPr lang="en-US" sz="8046" spc="-16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P4 Companion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3062" y="4283465"/>
            <a:ext cx="6060940" cy="88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26CDDC"/>
                </a:solidFill>
                <a:latin typeface="Noto Sans"/>
                <a:ea typeface="Noto Sans"/>
                <a:cs typeface="Noto Sans"/>
                <a:sym typeface="Noto Sans"/>
              </a:rPr>
              <a:t>Seamless hospital interoperability. </a:t>
            </a:r>
          </a:p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26CDDC"/>
                </a:solidFill>
                <a:latin typeface="Noto Sans"/>
                <a:ea typeface="Noto Sans"/>
                <a:cs typeface="Noto Sans"/>
                <a:sym typeface="Noto Sans"/>
              </a:rPr>
              <a:t>A complete, empathetic patient view.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095" y="5593758"/>
            <a:ext cx="5357705" cy="88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Unified Patient, Observation and </a:t>
            </a:r>
          </a:p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RiskAssessment bundle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3124" y="6835845"/>
            <a:ext cx="5054789" cy="91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38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LOINC-coded observations for </a:t>
            </a:r>
          </a:p>
          <a:p>
            <a:pPr algn="l">
              <a:lnSpc>
                <a:spcPts val="3689"/>
              </a:lnSpc>
            </a:pPr>
            <a:r>
              <a:rPr lang="en-US" sz="2838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standardized data exchange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669" y="8078797"/>
            <a:ext cx="4800293" cy="88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Future-ready integration with </a:t>
            </a:r>
          </a:p>
          <a:p>
            <a:pPr algn="l">
              <a:lnSpc>
                <a:spcPts val="3615"/>
              </a:lnSpc>
            </a:pPr>
            <a:r>
              <a:rPr lang="en-US" sz="2781" spc="-27">
                <a:solidFill>
                  <a:srgbClr val="FFFFFF">
                    <a:alpha val="89804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ABDM ecosystem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1279043"/>
            <a:ext cx="2406316" cy="6438940"/>
          </a:xfrm>
          <a:custGeom>
            <a:avLst/>
            <a:gdLst/>
            <a:ahLst/>
            <a:cxnLst/>
            <a:rect r="r" b="b" t="t" l="l"/>
            <a:pathLst>
              <a:path h="6438940" w="2406316">
                <a:moveTo>
                  <a:pt x="0" y="0"/>
                </a:moveTo>
                <a:lnTo>
                  <a:pt x="2406316" y="0"/>
                </a:lnTo>
                <a:lnTo>
                  <a:pt x="240631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116015">
            <a:off x="8537538" y="1675696"/>
            <a:ext cx="864379" cy="34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 b="true">
                <a:solidFill>
                  <a:srgbClr val="26CDD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Patient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487732" y="2350377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7732" y="3848060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87732" y="4919394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87732" y="5990729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87732" y="6635716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26842" y="1071335"/>
            <a:ext cx="2843828" cy="6646648"/>
          </a:xfrm>
          <a:custGeom>
            <a:avLst/>
            <a:gdLst/>
            <a:ahLst/>
            <a:cxnLst/>
            <a:rect r="r" b="b" t="t" l="l"/>
            <a:pathLst>
              <a:path h="6646648" w="2843828">
                <a:moveTo>
                  <a:pt x="0" y="0"/>
                </a:moveTo>
                <a:lnTo>
                  <a:pt x="2843828" y="0"/>
                </a:lnTo>
                <a:lnTo>
                  <a:pt x="2843828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221484">
            <a:off x="10621456" y="1525110"/>
            <a:ext cx="1469966" cy="34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 b="true">
                <a:solidFill>
                  <a:srgbClr val="26CDD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Observation</a:t>
            </a:r>
          </a:p>
        </p:txBody>
      </p:sp>
      <p:sp>
        <p:nvSpPr>
          <p:cNvPr name="TextBox 18" id="18"/>
          <p:cNvSpPr txBox="true"/>
          <p:nvPr/>
        </p:nvSpPr>
        <p:spPr>
          <a:xfrm rot="116015">
            <a:off x="10764027" y="2348020"/>
            <a:ext cx="548990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Vitals</a:t>
            </a:r>
          </a:p>
        </p:txBody>
      </p:sp>
      <p:sp>
        <p:nvSpPr>
          <p:cNvPr name="TextBox 19" id="19"/>
          <p:cNvSpPr txBox="true"/>
          <p:nvPr/>
        </p:nvSpPr>
        <p:spPr>
          <a:xfrm rot="116015">
            <a:off x="10761001" y="2769814"/>
            <a:ext cx="851879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Heart rate</a:t>
            </a:r>
          </a:p>
        </p:txBody>
      </p:sp>
      <p:sp>
        <p:nvSpPr>
          <p:cNvPr name="TextBox 20" id="20"/>
          <p:cNvSpPr txBox="true"/>
          <p:nvPr/>
        </p:nvSpPr>
        <p:spPr>
          <a:xfrm rot="116015">
            <a:off x="10756005" y="3447551"/>
            <a:ext cx="1351468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Respiratory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58183" y="4516866"/>
            <a:ext cx="1102009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Temperature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840976" y="852695"/>
            <a:ext cx="4582938" cy="7083928"/>
          </a:xfrm>
          <a:custGeom>
            <a:avLst/>
            <a:gdLst/>
            <a:ahLst/>
            <a:cxnLst/>
            <a:rect r="r" b="b" t="t" l="l"/>
            <a:pathLst>
              <a:path h="7083928" w="4582938">
                <a:moveTo>
                  <a:pt x="0" y="0"/>
                </a:moveTo>
                <a:lnTo>
                  <a:pt x="4582938" y="0"/>
                </a:lnTo>
                <a:lnTo>
                  <a:pt x="458293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221484">
            <a:off x="13214309" y="1359441"/>
            <a:ext cx="2038602" cy="34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 b="true">
                <a:solidFill>
                  <a:srgbClr val="26CDD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RiskAssessment</a:t>
            </a:r>
          </a:p>
        </p:txBody>
      </p:sp>
      <p:sp>
        <p:nvSpPr>
          <p:cNvPr name="TextBox 24" id="24"/>
          <p:cNvSpPr txBox="true"/>
          <p:nvPr/>
        </p:nvSpPr>
        <p:spPr>
          <a:xfrm rot="116015">
            <a:off x="13380804" y="2182351"/>
            <a:ext cx="1404112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Risk Summary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278488" y="256901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116015">
            <a:off x="14535588" y="2860110"/>
            <a:ext cx="1118712" cy="60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Moderate </a:t>
            </a:r>
          </a:p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Risk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278488" y="4066699"/>
            <a:ext cx="3707914" cy="863627"/>
          </a:xfrm>
          <a:custGeom>
            <a:avLst/>
            <a:gdLst/>
            <a:ahLst/>
            <a:cxnLst/>
            <a:rect r="r" b="b" t="t" l="l"/>
            <a:pathLst>
              <a:path h="863627" w="3707914">
                <a:moveTo>
                  <a:pt x="0" y="0"/>
                </a:moveTo>
                <a:lnTo>
                  <a:pt x="3707914" y="0"/>
                </a:lnTo>
                <a:lnTo>
                  <a:pt x="370791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382467" y="5179453"/>
            <a:ext cx="1206446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Risk Factors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78488" y="5564382"/>
            <a:ext cx="3489158" cy="229572"/>
          </a:xfrm>
          <a:custGeom>
            <a:avLst/>
            <a:gdLst/>
            <a:ahLst/>
            <a:cxnLst/>
            <a:rect r="r" b="b" t="t" l="l"/>
            <a:pathLst>
              <a:path h="229572" w="3489158">
                <a:moveTo>
                  <a:pt x="0" y="0"/>
                </a:moveTo>
                <a:lnTo>
                  <a:pt x="3489158" y="0"/>
                </a:lnTo>
                <a:lnTo>
                  <a:pt x="348915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78488" y="5783021"/>
            <a:ext cx="3489158" cy="218640"/>
          </a:xfrm>
          <a:custGeom>
            <a:avLst/>
            <a:gdLst/>
            <a:ahLst/>
            <a:cxnLst/>
            <a:rect r="r" b="b" t="t" l="l"/>
            <a:pathLst>
              <a:path h="218640" w="3489158">
                <a:moveTo>
                  <a:pt x="0" y="0"/>
                </a:moveTo>
                <a:lnTo>
                  <a:pt x="3489158" y="0"/>
                </a:lnTo>
                <a:lnTo>
                  <a:pt x="348915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78488" y="5990729"/>
            <a:ext cx="3489158" cy="229572"/>
          </a:xfrm>
          <a:custGeom>
            <a:avLst/>
            <a:gdLst/>
            <a:ahLst/>
            <a:cxnLst/>
            <a:rect r="r" b="b" t="t" l="l"/>
            <a:pathLst>
              <a:path h="229572" w="3489158">
                <a:moveTo>
                  <a:pt x="0" y="0"/>
                </a:moveTo>
                <a:lnTo>
                  <a:pt x="3489158" y="0"/>
                </a:lnTo>
                <a:lnTo>
                  <a:pt x="348915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-137109">
            <a:off x="13968387" y="6775910"/>
            <a:ext cx="1513230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FHIR R4 Bundle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351818" y="7499343"/>
            <a:ext cx="5895474" cy="1289974"/>
          </a:xfrm>
          <a:custGeom>
            <a:avLst/>
            <a:gdLst/>
            <a:ahLst/>
            <a:cxnLst/>
            <a:rect r="r" b="b" t="t" l="l"/>
            <a:pathLst>
              <a:path h="1289974" w="5895474">
                <a:moveTo>
                  <a:pt x="0" y="0"/>
                </a:moveTo>
                <a:lnTo>
                  <a:pt x="5895474" y="0"/>
                </a:lnTo>
                <a:lnTo>
                  <a:pt x="5895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725580" y="8897856"/>
            <a:ext cx="3560717" cy="44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b="true" sz="2724" spc="-26">
                <a:solidFill>
                  <a:srgbClr val="26CDD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ABDM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-137109">
            <a:off x="13926130" y="7071513"/>
            <a:ext cx="3079359" cy="20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"/>
              </a:lnSpc>
            </a:pPr>
            <a:r>
              <a:rPr lang="en-US" sz="1335" spc="-13">
                <a:solidFill>
                  <a:srgbClr val="26CDDC"/>
                </a:solidFill>
                <a:latin typeface="HK Grotesk"/>
                <a:ea typeface="HK Grotesk"/>
                <a:cs typeface="HK Grotesk"/>
                <a:sym typeface="HK Grotesk"/>
              </a:rPr>
              <a:t>Patient • Observation • RiskAssessment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43008" y="9381463"/>
            <a:ext cx="1725860" cy="3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26CDDC">
                    <a:alpha val="89804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Future target</a:t>
            </a:r>
          </a:p>
        </p:txBody>
      </p:sp>
      <p:sp>
        <p:nvSpPr>
          <p:cNvPr name="TextBox 37" id="37"/>
          <p:cNvSpPr txBox="true"/>
          <p:nvPr/>
        </p:nvSpPr>
        <p:spPr>
          <a:xfrm rot="63281">
            <a:off x="8531151" y="3733704"/>
            <a:ext cx="1473275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Patient Summary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33244" y="4712657"/>
            <a:ext cx="1246721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Demographics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82177" y="3929403"/>
            <a:ext cx="1235450" cy="2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Score trends</a:t>
            </a:r>
          </a:p>
        </p:txBody>
      </p:sp>
      <p:sp>
        <p:nvSpPr>
          <p:cNvPr name="TextBox 40" id="40"/>
          <p:cNvSpPr txBox="true"/>
          <p:nvPr/>
        </p:nvSpPr>
        <p:spPr>
          <a:xfrm rot="116015">
            <a:off x="10756643" y="4019863"/>
            <a:ext cx="1287642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Blood pressure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59231" y="5284969"/>
            <a:ext cx="997166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Lab Results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58759" y="5706673"/>
            <a:ext cx="1044413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Hemoglobin</a:t>
            </a:r>
          </a:p>
        </p:txBody>
      </p:sp>
      <p:sp>
        <p:nvSpPr>
          <p:cNvPr name="TextBox 43" id="43"/>
          <p:cNvSpPr txBox="true"/>
          <p:nvPr/>
        </p:nvSpPr>
        <p:spPr>
          <a:xfrm rot="-137109">
            <a:off x="8535661" y="6474783"/>
            <a:ext cx="967553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Encounters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760546" y="6098254"/>
            <a:ext cx="865680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Creatinine</a:t>
            </a:r>
          </a:p>
        </p:txBody>
      </p:sp>
      <p:sp>
        <p:nvSpPr>
          <p:cNvPr name="TextBox 45" id="45"/>
          <p:cNvSpPr txBox="true"/>
          <p:nvPr/>
        </p:nvSpPr>
        <p:spPr>
          <a:xfrm rot="116015">
            <a:off x="12017278" y="4109894"/>
            <a:ext cx="701993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85354-9</a:t>
            </a:r>
          </a:p>
        </p:txBody>
      </p:sp>
      <p:sp>
        <p:nvSpPr>
          <p:cNvPr name="TextBox 46" id="46"/>
          <p:cNvSpPr txBox="true"/>
          <p:nvPr/>
        </p:nvSpPr>
        <p:spPr>
          <a:xfrm rot="116015">
            <a:off x="12124489" y="2844784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8867-4</a:t>
            </a:r>
          </a:p>
        </p:txBody>
      </p:sp>
      <p:sp>
        <p:nvSpPr>
          <p:cNvPr name="TextBox 47" id="47"/>
          <p:cNvSpPr txBox="true"/>
          <p:nvPr/>
        </p:nvSpPr>
        <p:spPr>
          <a:xfrm rot="116015">
            <a:off x="12124489" y="3688191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9279-1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24183" y="4531593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8310-5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24183" y="6082860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2160-0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24183" y="6474441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1989-5</a:t>
            </a:r>
          </a:p>
        </p:txBody>
      </p:sp>
      <p:sp>
        <p:nvSpPr>
          <p:cNvPr name="TextBox 51" id="51"/>
          <p:cNvSpPr txBox="true"/>
          <p:nvPr/>
        </p:nvSpPr>
        <p:spPr>
          <a:xfrm rot="116015">
            <a:off x="12124489" y="3251427"/>
            <a:ext cx="593699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2708-6</a:t>
            </a:r>
          </a:p>
        </p:txBody>
      </p:sp>
      <p:sp>
        <p:nvSpPr>
          <p:cNvPr name="TextBox 52" id="52"/>
          <p:cNvSpPr txBox="true"/>
          <p:nvPr/>
        </p:nvSpPr>
        <p:spPr>
          <a:xfrm rot="-137109">
            <a:off x="13444258" y="6783722"/>
            <a:ext cx="316852" cy="24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520" spc="-14">
                <a:solidFill>
                  <a:srgbClr val="26CDDC"/>
                </a:solidFill>
                <a:latin typeface="HK Grotesk"/>
                <a:ea typeface="HK Grotesk"/>
                <a:cs typeface="HK Grotesk"/>
                <a:sym typeface="HK Grotesk"/>
              </a:rPr>
              <a:t>&lt;/&gt;</a:t>
            </a:r>
          </a:p>
        </p:txBody>
      </p:sp>
      <p:sp>
        <p:nvSpPr>
          <p:cNvPr name="TextBox 53" id="53"/>
          <p:cNvSpPr txBox="true"/>
          <p:nvPr/>
        </p:nvSpPr>
        <p:spPr>
          <a:xfrm rot="116015">
            <a:off x="10765295" y="3086091"/>
            <a:ext cx="422519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SpO₂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31394" y="5691278"/>
            <a:ext cx="485405" cy="23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3"/>
              </a:lnSpc>
            </a:pPr>
            <a:r>
              <a:rPr lang="en-US" sz="1441" spc="-14">
                <a:solidFill>
                  <a:srgbClr val="FFFFFF">
                    <a:alpha val="60000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718-7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765536" y="6489836"/>
            <a:ext cx="366666" cy="2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494" spc="-1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625" y="881523"/>
            <a:ext cx="7631290" cy="192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9"/>
              </a:lnSpc>
            </a:pPr>
            <a:r>
              <a:rPr lang="en-US" sz="7124" b="true">
                <a:solidFill>
                  <a:srgbClr val="FFFFFF">
                    <a:alpha val="92941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Prototype Validation Metrics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1598" y="2995365"/>
            <a:ext cx="6759560" cy="5586245"/>
          </a:xfrm>
          <a:custGeom>
            <a:avLst/>
            <a:gdLst/>
            <a:ahLst/>
            <a:cxnLst/>
            <a:rect r="r" b="b" t="t" l="l"/>
            <a:pathLst>
              <a:path h="5586245" w="6759560">
                <a:moveTo>
                  <a:pt x="0" y="0"/>
                </a:moveTo>
                <a:lnTo>
                  <a:pt x="6759560" y="0"/>
                </a:lnTo>
                <a:lnTo>
                  <a:pt x="675956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51818" y="1071335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71350" y="1470721"/>
            <a:ext cx="1381405" cy="75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3"/>
              </a:lnSpc>
            </a:pPr>
            <a:r>
              <a:rPr lang="en-US" sz="5458" spc="-109" b="true">
                <a:solidFill>
                  <a:srgbClr val="12CDE2">
                    <a:alpha val="92941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94%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03464" y="12790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64746" y="1561946"/>
            <a:ext cx="1363704" cy="44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sz="2575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accuracy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51818" y="2569017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38714" y="2925755"/>
            <a:ext cx="1966148" cy="83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0"/>
              </a:lnSpc>
            </a:pPr>
            <a:r>
              <a:rPr lang="en-US" sz="6068" spc="-121" b="true">
                <a:solidFill>
                  <a:srgbClr val="12CDE2">
                    <a:alpha val="92941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0.995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03464" y="2776725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51818" y="4066699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32903" y="4487731"/>
            <a:ext cx="2547163" cy="74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4"/>
              </a:lnSpc>
            </a:pPr>
            <a:r>
              <a:rPr lang="en-US" sz="5403" spc="-108" b="true">
                <a:solidFill>
                  <a:srgbClr val="12CDE2">
                    <a:alpha val="92941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15-hour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403464" y="428533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48727" y="4543993"/>
            <a:ext cx="2965539" cy="44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sz="2575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simulated lead time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351818" y="5564382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865114" y="5939070"/>
            <a:ext cx="2005049" cy="78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5607" spc="-112" b="true">
                <a:solidFill>
                  <a:srgbClr val="12CDE2">
                    <a:alpha val="92941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26.4%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03464" y="578302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42128" y="6035016"/>
            <a:ext cx="3625450" cy="44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sz="2575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simulated risk reduction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351818" y="7062064"/>
            <a:ext cx="8290852" cy="1519546"/>
          </a:xfrm>
          <a:custGeom>
            <a:avLst/>
            <a:gdLst/>
            <a:ahLst/>
            <a:cxnLst/>
            <a:rect r="r" b="b" t="t" l="l"/>
            <a:pathLst>
              <a:path h="1519546" w="8290852">
                <a:moveTo>
                  <a:pt x="0" y="0"/>
                </a:moveTo>
                <a:lnTo>
                  <a:pt x="8290852" y="0"/>
                </a:lnTo>
                <a:lnTo>
                  <a:pt x="829085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861758" y="7469409"/>
            <a:ext cx="2340617" cy="7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0"/>
              </a:lnSpc>
            </a:pPr>
            <a:r>
              <a:rPr lang="en-US" sz="5511" spc="-110" b="true">
                <a:solidFill>
                  <a:srgbClr val="12CDE2">
                    <a:alpha val="92941"/>
                  </a:srgbClr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&lt;15 ms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403464" y="728070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26574" y="8570678"/>
            <a:ext cx="17216096" cy="1508614"/>
          </a:xfrm>
          <a:custGeom>
            <a:avLst/>
            <a:gdLst/>
            <a:ahLst/>
            <a:cxnLst/>
            <a:rect r="r" b="b" t="t" l="l"/>
            <a:pathLst>
              <a:path h="1508614" w="17216096">
                <a:moveTo>
                  <a:pt x="0" y="0"/>
                </a:moveTo>
                <a:lnTo>
                  <a:pt x="17216096" y="0"/>
                </a:lnTo>
                <a:lnTo>
                  <a:pt x="17216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58068" y="8831085"/>
            <a:ext cx="7954948" cy="83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399" b="true">
                <a:solidFill>
                  <a:srgbClr val="2DB8C2">
                    <a:alpha val="92941"/>
                  </a:srgbClr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Synthetic sandbox results and investigative simulations.</a:t>
            </a:r>
            <a:r>
              <a:rPr lang="en-US" sz="2399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 Not clinically validated. Not prescribing guidance.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4201" y="3054824"/>
            <a:ext cx="1418186" cy="42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478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ROC-AUC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7559" y="7526039"/>
            <a:ext cx="1082352" cy="44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</a:pPr>
            <a:r>
              <a:rPr lang="en-US" sz="2575">
                <a:solidFill>
                  <a:srgbClr val="FFFFFF">
                    <a:alpha val="92941"/>
                  </a:srgbClr>
                </a:solidFill>
                <a:latin typeface="HK Grotesk"/>
                <a:ea typeface="HK Grotesk"/>
                <a:cs typeface="HK Grotesk"/>
                <a:sym typeface="HK Grotesk"/>
              </a:rPr>
              <a:t>latency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467" y="1022512"/>
            <a:ext cx="10625907" cy="243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5"/>
              </a:lnSpc>
            </a:pPr>
            <a:r>
              <a:rPr lang="en-US" sz="9035" spc="-180" b="true">
                <a:solidFill>
                  <a:srgbClr val="F8F8F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Roadmap to Clinical Translation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842" y="5783021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39500" y="4352734"/>
            <a:ext cx="1268707" cy="243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3"/>
              </a:lnSpc>
            </a:pPr>
            <a:r>
              <a:rPr lang="en-US" b="true" sz="17653" spc="-353">
                <a:solidFill>
                  <a:srgbClr val="08D0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0891" y="7474298"/>
            <a:ext cx="3815952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b="true" sz="2896" spc="-28">
                <a:solidFill>
                  <a:srgbClr val="2DD0D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SYNTHETIC SANDBOX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199" y="8057538"/>
            <a:ext cx="3299310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Proof of concept in</a:t>
            </a:r>
          </a:p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synthetic environments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56440" y="5783021"/>
            <a:ext cx="3937608" cy="1508614"/>
          </a:xfrm>
          <a:custGeom>
            <a:avLst/>
            <a:gdLst/>
            <a:ahLst/>
            <a:cxnLst/>
            <a:rect r="r" b="b" t="t" l="l"/>
            <a:pathLst>
              <a:path h="1508614" w="3937608">
                <a:moveTo>
                  <a:pt x="0" y="0"/>
                </a:moveTo>
                <a:lnTo>
                  <a:pt x="3937608" y="0"/>
                </a:lnTo>
                <a:lnTo>
                  <a:pt x="393760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52841" y="4352734"/>
            <a:ext cx="1268707" cy="243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3"/>
              </a:lnSpc>
            </a:pPr>
            <a:r>
              <a:rPr lang="en-US" b="true" sz="17653" spc="-353">
                <a:solidFill>
                  <a:srgbClr val="08D0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1386" y="7474120"/>
            <a:ext cx="3571617" cy="88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b="true" sz="2759" spc="-26">
                <a:solidFill>
                  <a:srgbClr val="2DD0D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LIVE WEARABLES</a:t>
            </a:r>
          </a:p>
          <a:p>
            <a:pPr algn="ctr">
              <a:lnSpc>
                <a:spcPts val="3587"/>
              </a:lnSpc>
            </a:pPr>
            <a:r>
              <a:rPr lang="en-US" b="true" sz="2759" spc="-26">
                <a:solidFill>
                  <a:srgbClr val="2DD0D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AND ECG MODELLING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8837" y="8554545"/>
            <a:ext cx="3456716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Real-world signals</a:t>
            </a:r>
          </a:p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and advanced modelling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840976" y="5783021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61169" y="4352734"/>
            <a:ext cx="1268707" cy="243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3"/>
              </a:lnSpc>
            </a:pPr>
            <a:r>
              <a:rPr lang="en-US" b="true" sz="17653" spc="-353">
                <a:solidFill>
                  <a:srgbClr val="08D0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73960" y="7474120"/>
            <a:ext cx="3443124" cy="88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b="true" sz="2759" spc="-26">
                <a:solidFill>
                  <a:srgbClr val="2DD0D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ETHICS-APPROVED PROSPECTIVE PILOT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98681" y="8554545"/>
            <a:ext cx="3193683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Governed deployment</a:t>
            </a:r>
          </a:p>
          <a:p>
            <a:pPr algn="ctr">
              <a:lnSpc>
                <a:spcPts val="3482"/>
              </a:lnSpc>
            </a:pPr>
            <a:r>
              <a:rPr lang="en-US" sz="2487" spc="-24">
                <a:solidFill>
                  <a:srgbClr val="D9D9D9"/>
                </a:solidFill>
                <a:latin typeface="HK Grotesk"/>
                <a:ea typeface="HK Grotesk"/>
                <a:cs typeface="HK Grotesk"/>
                <a:sym typeface="HK Grotesk"/>
              </a:rPr>
              <a:t>in prospective settings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998574" y="6209369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83110" y="6209369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DAHYikhWmB0</dc:identifier>
  <dcterms:modified xsi:type="dcterms:W3CDTF">2011-08-01T06:04:30Z</dcterms:modified>
  <cp:revision>1</cp:revision>
  <dc:title>VitalTwins Digital Twin</dc:title>
</cp:coreProperties>
</file>